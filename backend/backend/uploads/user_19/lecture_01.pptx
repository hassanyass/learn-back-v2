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73" r:id="rId11"/>
    <p:sldId id="274" r:id="rId12"/>
    <p:sldId id="276" r:id="rId13"/>
    <p:sldId id="277" r:id="rId14"/>
    <p:sldId id="278" r:id="rId15"/>
    <p:sldId id="275" r:id="rId16"/>
    <p:sldId id="279" r:id="rId17"/>
    <p:sldId id="280" r:id="rId18"/>
    <p:sldId id="281" r:id="rId19"/>
    <p:sldId id="282" r:id="rId20"/>
    <p:sldId id="283" r:id="rId21"/>
    <p:sldId id="265" r:id="rId22"/>
    <p:sldId id="263" r:id="rId23"/>
    <p:sldId id="284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249D3E-15B6-42F5-BD37-0371BB3A0D00}" type="datetimeFigureOut">
              <a:rPr lang="en-MY" smtClean="0"/>
              <a:t>24/4/2026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013A8-35DE-4255-A9E4-0BB259E143F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1983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2816C-5F0F-44C8-AF0E-5EBFC3201A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Y" dirty="0"/>
              <a:t>Introduction to Machine Learning</a:t>
            </a:r>
            <a:br>
              <a:rPr lang="en-MY" dirty="0"/>
            </a:br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DB2EC-A826-43C7-88D1-E397E2B6BE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MY" b="1" dirty="0"/>
              <a:t>“Can machines think?”</a:t>
            </a:r>
            <a:endParaRPr lang="en-MY" dirty="0"/>
          </a:p>
          <a:p>
            <a:pPr algn="r"/>
            <a:r>
              <a:rPr lang="en-MY" b="1" dirty="0"/>
              <a:t>-- Alan Turing</a:t>
            </a:r>
            <a:endParaRPr lang="en-MY" dirty="0"/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336522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EB7B8-F909-449F-AF69-64B2539BF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What is intelligence?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EEAE3-C1CD-483B-874F-6155EF750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474246-5BD1-4039-92C9-4D4BD50231F0}"/>
              </a:ext>
            </a:extLst>
          </p:cNvPr>
          <p:cNvSpPr txBox="1"/>
          <p:nvPr/>
        </p:nvSpPr>
        <p:spPr>
          <a:xfrm>
            <a:off x="1260088" y="5325069"/>
            <a:ext cx="74975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What makes humans (Homo sapient) distinct from animals? </a:t>
            </a:r>
          </a:p>
          <a:p>
            <a:r>
              <a:rPr lang="en-MY" dirty="0"/>
              <a:t>Language, writing, reasoning, creative invention, moral choice …</a:t>
            </a:r>
          </a:p>
          <a:p>
            <a:endParaRPr lang="en-MY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A78960-B445-4CCC-9FE1-BE81C49F0D7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065129" y="1647784"/>
            <a:ext cx="3675380" cy="3677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710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7ED2B-C8D8-4671-A260-47EBC8169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What is intelligence?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D63F6-0A89-4022-910A-146AD3556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Intelligence is the ability to </a:t>
            </a:r>
            <a:r>
              <a:rPr lang="en-MY" b="1" dirty="0"/>
              <a:t>think </a:t>
            </a:r>
            <a:r>
              <a:rPr lang="en-MY" dirty="0"/>
              <a:t>and understand instead of doing things by instinct or automatically.</a:t>
            </a:r>
          </a:p>
          <a:p>
            <a:pPr marL="0" indent="0">
              <a:buNone/>
            </a:pPr>
            <a:r>
              <a:rPr lang="en-MY" dirty="0"/>
              <a:t>					(Essential English Dictionary, Collins, London, 1990)</a:t>
            </a:r>
          </a:p>
          <a:p>
            <a:pPr lvl="0" fontAlgn="base"/>
            <a:r>
              <a:rPr lang="en-MY" dirty="0"/>
              <a:t>But, What  “thinking” means?</a:t>
            </a:r>
          </a:p>
          <a:p>
            <a:pPr lvl="0" fontAlgn="base"/>
            <a:r>
              <a:rPr lang="en-MY" dirty="0"/>
              <a:t>Thinking is the activity of using your brain to consider a problem or to create an idea.</a:t>
            </a:r>
          </a:p>
          <a:p>
            <a:pPr marL="0" indent="0">
              <a:buNone/>
            </a:pPr>
            <a:r>
              <a:rPr lang="en-MY" dirty="0"/>
              <a:t>					(Essential English Dictionary, Collins, London, 1990)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233581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30FB3-48DD-43D0-9E03-757CF3734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What is intelligence?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F6BFC-4F50-40B7-8472-9FC8D7E7F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439601"/>
            <a:ext cx="8946541" cy="4195481"/>
          </a:xfrm>
        </p:spPr>
        <p:txBody>
          <a:bodyPr/>
          <a:lstStyle/>
          <a:p>
            <a:r>
              <a:rPr lang="en-MY" dirty="0"/>
              <a:t>Intelligence is the ability </a:t>
            </a:r>
            <a:r>
              <a:rPr lang="en-MY" u="sng" dirty="0"/>
              <a:t>to learn </a:t>
            </a:r>
            <a:r>
              <a:rPr lang="en-MY" dirty="0"/>
              <a:t>and </a:t>
            </a:r>
            <a:r>
              <a:rPr lang="en-MY" u="sng" dirty="0"/>
              <a:t>understand</a:t>
            </a:r>
            <a:r>
              <a:rPr lang="en-MY" dirty="0"/>
              <a:t>, </a:t>
            </a:r>
            <a:r>
              <a:rPr lang="en-MY" u="sng" dirty="0"/>
              <a:t>to solve problems </a:t>
            </a:r>
            <a:r>
              <a:rPr lang="en-MY" dirty="0"/>
              <a:t>and </a:t>
            </a:r>
            <a:r>
              <a:rPr lang="en-MY" u="sng" dirty="0"/>
              <a:t>to</a:t>
            </a:r>
            <a:r>
              <a:rPr lang="en-MY" dirty="0"/>
              <a:t> </a:t>
            </a:r>
            <a:r>
              <a:rPr lang="en-MY" u="sng" dirty="0"/>
              <a:t>make decisions</a:t>
            </a:r>
            <a:r>
              <a:rPr lang="en-MY" dirty="0"/>
              <a:t>.</a:t>
            </a:r>
          </a:p>
          <a:p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66CECA-7367-48A2-82FA-F4349D60C7B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258324" y="2497037"/>
            <a:ext cx="7095490" cy="418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629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DDD29-6D82-436B-B263-05036CD20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Human vs Non-Human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6A0E6-BD55-45FF-917A-C525A6E61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2041767"/>
            <a:ext cx="8946541" cy="4195481"/>
          </a:xfrm>
        </p:spPr>
        <p:txBody>
          <a:bodyPr/>
          <a:lstStyle/>
          <a:p>
            <a:r>
              <a:rPr lang="en-US" dirty="0"/>
              <a:t>Can non-humans (man-made objects) have Intelligence?”</a:t>
            </a:r>
          </a:p>
          <a:p>
            <a:r>
              <a:rPr lang="en-US" dirty="0"/>
              <a:t>To be more specific,  “Can Machines Think?”</a:t>
            </a:r>
          </a:p>
          <a:p>
            <a:r>
              <a:rPr lang="en-US" dirty="0"/>
              <a:t>To address this question, a new discipline was born …</a:t>
            </a:r>
          </a:p>
          <a:p>
            <a:endParaRPr lang="en-MY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8EFE853-BE25-4C76-901F-26D5F754D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MY"/>
          </a:p>
        </p:txBody>
      </p:sp>
      <p:pic>
        <p:nvPicPr>
          <p:cNvPr id="3073" name="Picture 102">
            <a:extLst>
              <a:ext uri="{FF2B5EF4-FFF2-40B4-BE49-F238E27FC236}">
                <a16:creationId xmlns:a16="http://schemas.microsoft.com/office/drawing/2014/main" id="{50BB1AED-C6DD-434E-BA6B-4C1BBC9B0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8614" y="2500273"/>
            <a:ext cx="3597275" cy="373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955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BB6FB-5AE0-448E-A750-2077DFA8D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Artificial Intelligence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F9D08-2884-472B-A4F8-FC98FC1DD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“A science to make machines do things that would require intelligence* if done by humans.” 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DD5A16-8CFF-40D6-BC0C-33D5F054DC6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338683" y="3607985"/>
            <a:ext cx="3358515" cy="251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990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45E5F-F2E8-415D-BC3B-B80BC3261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2" y="385242"/>
            <a:ext cx="10962309" cy="1400530"/>
          </a:xfrm>
        </p:spPr>
        <p:txBody>
          <a:bodyPr/>
          <a:lstStyle/>
          <a:p>
            <a:r>
              <a:rPr lang="en-MY" dirty="0"/>
              <a:t>Some Refresh about Artificial Intelligence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E79BE-55ED-4363-AF01-E7E1C7A72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39" y="1302026"/>
            <a:ext cx="11330609" cy="4946373"/>
          </a:xfrm>
        </p:spPr>
        <p:txBody>
          <a:bodyPr/>
          <a:lstStyle/>
          <a:p>
            <a:r>
              <a:rPr lang="en-US" dirty="0"/>
              <a:t>"science and engineering of making intelligent machines, especially intelligent computer programs". ---John McCarthy in 1956</a:t>
            </a:r>
          </a:p>
          <a:p>
            <a:r>
              <a:rPr lang="en-US" dirty="0"/>
              <a:t>The very premise of AI technology is to enable machines to learn from collected data, and make human-like decisions.</a:t>
            </a:r>
          </a:p>
          <a:p>
            <a:r>
              <a:rPr lang="en-US" dirty="0"/>
              <a:t>Thus, AI is a scientific discipline that studies and develops theories, techniques, and application systems used to simulate and extend human intelligence. </a:t>
            </a:r>
          </a:p>
          <a:p>
            <a:r>
              <a:rPr lang="en-US" dirty="0"/>
              <a:t>AI has become an interdisciplinary course that involves various fields</a:t>
            </a:r>
            <a:endParaRPr lang="en-MY" dirty="0"/>
          </a:p>
        </p:txBody>
      </p:sp>
      <p:pic>
        <p:nvPicPr>
          <p:cNvPr id="4" name="图片 8">
            <a:extLst>
              <a:ext uri="{FF2B5EF4-FFF2-40B4-BE49-F238E27FC236}">
                <a16:creationId xmlns:a16="http://schemas.microsoft.com/office/drawing/2014/main" id="{66683DE6-6525-4911-A445-9F8A95E04F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7244" y="3670048"/>
            <a:ext cx="2985037" cy="29561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89A873-6493-47D7-AFB7-8ABDF665A686}"/>
              </a:ext>
            </a:extLst>
          </p:cNvPr>
          <p:cNvSpPr txBox="1"/>
          <p:nvPr/>
        </p:nvSpPr>
        <p:spPr>
          <a:xfrm>
            <a:off x="410885" y="6441578"/>
            <a:ext cx="5685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200" dirty="0"/>
              <a:t>Content from Huawei HCIA-AI course material</a:t>
            </a:r>
          </a:p>
        </p:txBody>
      </p:sp>
    </p:spTree>
    <p:extLst>
      <p:ext uri="{BB962C8B-B14F-4D97-AF65-F5344CB8AC3E}">
        <p14:creationId xmlns:p14="http://schemas.microsoft.com/office/powerpoint/2010/main" val="2049239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BCE4F-4A9A-4B27-B4FE-81F5EDAE5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Some Refresh about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58008-5E03-4332-BA75-0366EBC5F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326996"/>
            <a:ext cx="10438201" cy="4943706"/>
          </a:xfrm>
        </p:spPr>
        <p:txBody>
          <a:bodyPr/>
          <a:lstStyle/>
          <a:p>
            <a:r>
              <a:rPr lang="en-MY" dirty="0"/>
              <a:t>The Turing Test by Alan Turing</a:t>
            </a:r>
          </a:p>
          <a:p>
            <a:r>
              <a:rPr lang="en-MY" dirty="0"/>
              <a:t>The main purpose: to test the machine’s ability to exhibit intelligent behaviour that is indistinguishable from that of a human</a:t>
            </a:r>
          </a:p>
          <a:p>
            <a:r>
              <a:rPr lang="en-MY" dirty="0"/>
              <a:t>Instead of asking ‘can a machine think’, Turing was asking: </a:t>
            </a:r>
            <a:r>
              <a:rPr lang="en-US" dirty="0">
                <a:highlight>
                  <a:srgbClr val="808000"/>
                </a:highlight>
              </a:rPr>
              <a:t>Can a machine pass a behavioral test for intelligence?</a:t>
            </a:r>
            <a:endParaRPr lang="en-MY" dirty="0">
              <a:highlight>
                <a:srgbClr val="808000"/>
              </a:highlight>
            </a:endParaRPr>
          </a:p>
          <a:p>
            <a:r>
              <a:rPr lang="en-US" dirty="0"/>
              <a:t>Turing focused on </a:t>
            </a:r>
            <a:r>
              <a:rPr lang="en-US" b="1" dirty="0"/>
              <a:t>observable behavior</a:t>
            </a:r>
            <a:r>
              <a:rPr lang="en-US" dirty="0"/>
              <a:t>—if a machine can convincingly mimic human intelligence, it should be considered intelligent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555151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0256-046E-41E4-9B3B-4685A7F1B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Turing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73844-F1D4-42CB-90DC-4D01BCA40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385" y="2052918"/>
            <a:ext cx="5029334" cy="4195481"/>
          </a:xfrm>
        </p:spPr>
        <p:txBody>
          <a:bodyPr/>
          <a:lstStyle/>
          <a:p>
            <a:r>
              <a:rPr lang="en-MY" dirty="0"/>
              <a:t>Is it a machine or a human?</a:t>
            </a:r>
          </a:p>
          <a:p>
            <a:r>
              <a:rPr lang="en-US" dirty="0"/>
              <a:t>Test Setup:</a:t>
            </a:r>
          </a:p>
          <a:p>
            <a:pPr lvl="1"/>
            <a:r>
              <a:rPr lang="en-US" dirty="0"/>
              <a:t>A human judge interacts with a machine and a human through text-based communication.</a:t>
            </a:r>
          </a:p>
          <a:p>
            <a:pPr lvl="1"/>
            <a:r>
              <a:rPr lang="en-US" dirty="0"/>
              <a:t>If the judge cannot reliably distinguish the machine from the human, the machine is said to have passed the test.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537B74-9C3A-425A-9D4B-731F009AB6C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730736" y="1515689"/>
            <a:ext cx="3942080" cy="504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332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F007B-F066-4A18-9542-3A646C7F2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177" y="452718"/>
            <a:ext cx="9816658" cy="1400530"/>
          </a:xfrm>
        </p:spPr>
        <p:txBody>
          <a:bodyPr/>
          <a:lstStyle/>
          <a:p>
            <a:r>
              <a:rPr lang="en-US" dirty="0"/>
              <a:t>Three Important Era of AI (Early Day)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48064-835D-4317-86E4-946E023BA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era of great expectations  (1956 – late 1960s)</a:t>
            </a:r>
          </a:p>
          <a:p>
            <a:r>
              <a:rPr lang="en-US" dirty="0"/>
              <a:t>Unfulfilled promises (late 1960s – early 1970s)</a:t>
            </a:r>
          </a:p>
          <a:p>
            <a:r>
              <a:rPr lang="en-US" dirty="0"/>
              <a:t>The key to success  (early 1970s – mid-1980s)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988846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DE304-3A80-44AE-AB31-0770D1C34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500" dirty="0"/>
              <a:t>The era of great expectations </a:t>
            </a:r>
            <a:br>
              <a:rPr lang="en-US" sz="3500" dirty="0"/>
            </a:br>
            <a:r>
              <a:rPr lang="en-US" sz="3500" dirty="0"/>
              <a:t> (1956 – late 1960s)</a:t>
            </a:r>
            <a:br>
              <a:rPr lang="en-US" sz="3500" dirty="0"/>
            </a:br>
            <a:endParaRPr lang="en-MY" sz="3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D86F0-9B4D-47EB-BADC-DBD6FE221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early works on perceptron started by McCulloch and Pitts (1957) was continued. </a:t>
            </a:r>
          </a:p>
          <a:p>
            <a:r>
              <a:rPr lang="en-US" dirty="0"/>
              <a:t>Learning methods were improved and Frank Rosenblatt (1958) proved the perceptron convergence theorem, demonstrating that his learning algorithm could adjust the connection strengths of a perceptron.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D1AC47-D847-4F3E-8A8E-94167006C59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259689" y="4450699"/>
            <a:ext cx="3917950" cy="174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425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913CC-41AC-4F29-9001-E361297D3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One of the most ambitious projects was the General Problem Solver (GPS)</a:t>
            </a:r>
          </a:p>
          <a:p>
            <a:pPr lvl="1"/>
            <a:r>
              <a:rPr lang="en-MY" dirty="0"/>
              <a:t>To simulate the thinking process by inventing </a:t>
            </a:r>
            <a:r>
              <a:rPr lang="en-MY" b="1" dirty="0"/>
              <a:t>general methods </a:t>
            </a:r>
            <a:r>
              <a:rPr lang="en-MY" dirty="0"/>
              <a:t>for solving broad classes of problems</a:t>
            </a:r>
          </a:p>
          <a:p>
            <a:r>
              <a:rPr lang="en-MY" b="1" dirty="0"/>
              <a:t>Key idea: </a:t>
            </a:r>
            <a:r>
              <a:rPr lang="en-MY" dirty="0"/>
              <a:t>To solve problems, programs applied a search strategy by trying out different combinations of small steps, until the right one was found.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8D115F8-319C-4FA0-8AC1-AD31AB3CE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/>
          <a:lstStyle/>
          <a:p>
            <a:r>
              <a:rPr lang="en-US" sz="3500" dirty="0"/>
              <a:t>General Problem Solver</a:t>
            </a:r>
            <a:br>
              <a:rPr lang="en-US" sz="3500" dirty="0"/>
            </a:br>
            <a:endParaRPr lang="en-MY" sz="35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6217F2-9ED4-48C7-9BE6-C0B50F5099E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445758" y="4390669"/>
            <a:ext cx="507746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6826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55AEB-D45B-4712-8410-672AB2CD2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General Problem Solver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40B5D-D707-464C-B27C-9C7BEDB03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293541"/>
            <a:ext cx="8946541" cy="5564459"/>
          </a:xfrm>
        </p:spPr>
        <p:txBody>
          <a:bodyPr>
            <a:normAutofit lnSpcReduction="10000"/>
          </a:bodyPr>
          <a:lstStyle/>
          <a:p>
            <a:r>
              <a:rPr lang="en-MY" dirty="0"/>
              <a:t>The methods were based on </a:t>
            </a:r>
            <a:r>
              <a:rPr lang="en-MY" b="1" dirty="0"/>
              <a:t>formal logic </a:t>
            </a:r>
            <a:r>
              <a:rPr lang="en-MY" dirty="0"/>
              <a:t>and could generate an infinite number of possible operators – </a:t>
            </a:r>
            <a:r>
              <a:rPr lang="en-MY" b="1" dirty="0"/>
              <a:t>Symbolic AI</a:t>
            </a:r>
            <a:r>
              <a:rPr lang="en-MY" dirty="0"/>
              <a:t>.</a:t>
            </a:r>
          </a:p>
          <a:p>
            <a:endParaRPr lang="en-MY" dirty="0"/>
          </a:p>
          <a:p>
            <a:endParaRPr lang="en-MY" dirty="0"/>
          </a:p>
          <a:p>
            <a:endParaRPr lang="en-MY" dirty="0"/>
          </a:p>
          <a:p>
            <a:endParaRPr lang="en-MY" dirty="0"/>
          </a:p>
          <a:p>
            <a:endParaRPr lang="en-MY" dirty="0"/>
          </a:p>
          <a:p>
            <a:endParaRPr lang="en-MY" dirty="0"/>
          </a:p>
          <a:p>
            <a:endParaRPr lang="en-MY" dirty="0"/>
          </a:p>
          <a:p>
            <a:endParaRPr lang="en-MY" dirty="0"/>
          </a:p>
          <a:p>
            <a:endParaRPr lang="en-MY" dirty="0"/>
          </a:p>
          <a:p>
            <a:endParaRPr lang="en-MY" dirty="0"/>
          </a:p>
          <a:p>
            <a:r>
              <a:rPr lang="en-MY" dirty="0"/>
              <a:t>This approach was quite feasible for simple toy problems (</a:t>
            </a:r>
            <a:r>
              <a:rPr lang="en-MY" dirty="0" err="1"/>
              <a:t>eg.</a:t>
            </a:r>
            <a:r>
              <a:rPr lang="en-MY" dirty="0"/>
              <a:t> Hanoi Tower Problem) at that time</a:t>
            </a:r>
          </a:p>
          <a:p>
            <a:endParaRPr lang="en-MY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D81646-CD24-4F68-B391-0C557952B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461" y="2969163"/>
            <a:ext cx="3520745" cy="294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2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1B313-6D25-4706-B36E-49F11CE0B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General Problem Solver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B5558-F058-4622-AE72-003632F7B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Naturally, people expected that If the programs could be “scaled up” to solve large problems, they would finally succeed</a:t>
            </a:r>
          </a:p>
          <a:p>
            <a:r>
              <a:rPr lang="en-MY" dirty="0"/>
              <a:t>However, GPS failed to solve complex problems</a:t>
            </a:r>
          </a:p>
          <a:p>
            <a:r>
              <a:rPr lang="en-MY" dirty="0"/>
              <a:t>The amount of computer time and memory that GPS required to solve real-world problems led to the project being abandoned</a:t>
            </a:r>
          </a:p>
        </p:txBody>
      </p:sp>
    </p:spTree>
    <p:extLst>
      <p:ext uri="{BB962C8B-B14F-4D97-AF65-F5344CB8AC3E}">
        <p14:creationId xmlns:p14="http://schemas.microsoft.com/office/powerpoint/2010/main" val="2236694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6E477-F7C8-46CF-928B-7D84687C4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Unfulfilled Promises (late 1960s – early 1970s)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87266-4259-4D19-9321-FC2C3C7FF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852" y="1741395"/>
            <a:ext cx="8946541" cy="4805082"/>
          </a:xfrm>
        </p:spPr>
        <p:txBody>
          <a:bodyPr/>
          <a:lstStyle/>
          <a:p>
            <a:r>
              <a:rPr lang="en-MY" dirty="0"/>
              <a:t>XOR Problem</a:t>
            </a:r>
          </a:p>
          <a:p>
            <a:pPr lvl="1"/>
            <a:r>
              <a:rPr lang="en-US" dirty="0">
                <a:latin typeface="Huawei Sans" panose="020C0503030203020204" pitchFamily="34" charset="0"/>
              </a:rPr>
              <a:t>In 1969, Marvin Minsky, an American mathematician and AI pioneer, proved that </a:t>
            </a:r>
            <a:r>
              <a:rPr lang="en-US" dirty="0" err="1">
                <a:latin typeface="Huawei Sans" panose="020C0503030203020204" pitchFamily="34" charset="0"/>
              </a:rPr>
              <a:t>perceptrons</a:t>
            </a:r>
            <a:r>
              <a:rPr lang="en-US" dirty="0">
                <a:latin typeface="Huawei Sans" panose="020C0503030203020204" pitchFamily="34" charset="0"/>
              </a:rPr>
              <a:t> are essentially a type of linear model capable of processing only linear classification and cannot solve XOR (exclusive OR) problem</a:t>
            </a:r>
          </a:p>
          <a:p>
            <a:pPr marL="457200" lvl="1" indent="0">
              <a:buNone/>
            </a:pPr>
            <a:endParaRPr lang="en-MY" dirty="0"/>
          </a:p>
          <a:p>
            <a:endParaRPr lang="en-MY" dirty="0"/>
          </a:p>
          <a:p>
            <a:endParaRPr lang="en-MY" dirty="0"/>
          </a:p>
          <a:p>
            <a:endParaRPr lang="en-MY" dirty="0"/>
          </a:p>
          <a:p>
            <a:endParaRPr lang="en-MY" dirty="0"/>
          </a:p>
          <a:p>
            <a:endParaRPr lang="en-MY" dirty="0"/>
          </a:p>
          <a:p>
            <a:r>
              <a:rPr lang="en-MY" dirty="0"/>
              <a:t>By 1970, the euphoria about AI was gone, and most government funding for AI projects was cancelled</a:t>
            </a:r>
          </a:p>
        </p:txBody>
      </p:sp>
      <p:grpSp>
        <p:nvGrpSpPr>
          <p:cNvPr id="4" name="组合 34">
            <a:extLst>
              <a:ext uri="{FF2B5EF4-FFF2-40B4-BE49-F238E27FC236}">
                <a16:creationId xmlns:a16="http://schemas.microsoft.com/office/drawing/2014/main" id="{090A1BEB-702A-40D0-8363-CB033700D38B}"/>
              </a:ext>
            </a:extLst>
          </p:cNvPr>
          <p:cNvGrpSpPr/>
          <p:nvPr/>
        </p:nvGrpSpPr>
        <p:grpSpPr>
          <a:xfrm>
            <a:off x="2116454" y="3092932"/>
            <a:ext cx="7507939" cy="2604853"/>
            <a:chOff x="2116454" y="3092932"/>
            <a:chExt cx="7507939" cy="2604853"/>
          </a:xfrm>
        </p:grpSpPr>
        <p:grpSp>
          <p:nvGrpSpPr>
            <p:cNvPr id="5" name="组合 24">
              <a:extLst>
                <a:ext uri="{FF2B5EF4-FFF2-40B4-BE49-F238E27FC236}">
                  <a16:creationId xmlns:a16="http://schemas.microsoft.com/office/drawing/2014/main" id="{15958F63-6214-40CB-AFDB-3727F755E56B}"/>
                </a:ext>
              </a:extLst>
            </p:cNvPr>
            <p:cNvGrpSpPr/>
            <p:nvPr/>
          </p:nvGrpSpPr>
          <p:grpSpPr>
            <a:xfrm>
              <a:off x="2279576" y="3092932"/>
              <a:ext cx="7344817" cy="2604853"/>
              <a:chOff x="2495599" y="3716338"/>
              <a:chExt cx="5976664" cy="1784479"/>
            </a:xfrm>
          </p:grpSpPr>
          <p:cxnSp>
            <p:nvCxnSpPr>
              <p:cNvPr id="8" name="直接箭头连接符 3">
                <a:extLst>
                  <a:ext uri="{FF2B5EF4-FFF2-40B4-BE49-F238E27FC236}">
                    <a16:creationId xmlns:a16="http://schemas.microsoft.com/office/drawing/2014/main" id="{4B750621-B9E4-4B10-8CD4-8E1ED78AA12F}"/>
                  </a:ext>
                </a:extLst>
              </p:cNvPr>
              <p:cNvCxnSpPr/>
              <p:nvPr/>
            </p:nvCxnSpPr>
            <p:spPr bwMode="auto">
              <a:xfrm>
                <a:off x="2567607" y="5156498"/>
                <a:ext cx="1440000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tailEnd type="arrow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直接箭头连接符 4">
                <a:extLst>
                  <a:ext uri="{FF2B5EF4-FFF2-40B4-BE49-F238E27FC236}">
                    <a16:creationId xmlns:a16="http://schemas.microsoft.com/office/drawing/2014/main" id="{36430A7F-8CC6-4D6D-A0EB-577659F2D667}"/>
                  </a:ext>
                </a:extLst>
              </p:cNvPr>
              <p:cNvCxnSpPr/>
              <p:nvPr/>
            </p:nvCxnSpPr>
            <p:spPr bwMode="auto">
              <a:xfrm flipH="1" flipV="1">
                <a:off x="2567608" y="3716338"/>
                <a:ext cx="0" cy="144000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tailEnd type="arrow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" name="文本框 5">
                <a:extLst>
                  <a:ext uri="{FF2B5EF4-FFF2-40B4-BE49-F238E27FC236}">
                    <a16:creationId xmlns:a16="http://schemas.microsoft.com/office/drawing/2014/main" id="{946201EC-4B59-47E2-8B73-A27B0186DB4A}"/>
                  </a:ext>
                </a:extLst>
              </p:cNvPr>
              <p:cNvSpPr txBox="1"/>
              <p:nvPr/>
            </p:nvSpPr>
            <p:spPr>
              <a:xfrm>
                <a:off x="2921500" y="5300514"/>
                <a:ext cx="451585" cy="200303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pPr fontAlgn="ctr"/>
                <a:r>
                  <a:rPr lang="en-US" sz="13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cs typeface="+mn-ea"/>
                    <a:sym typeface="Huawei Sans" panose="020C0503030203020204" pitchFamily="34" charset="0"/>
                  </a:rPr>
                  <a:t>AND</a:t>
                </a:r>
              </a:p>
            </p:txBody>
          </p:sp>
          <p:sp>
            <p:nvSpPr>
              <p:cNvPr id="11" name="矩形 6">
                <a:extLst>
                  <a:ext uri="{FF2B5EF4-FFF2-40B4-BE49-F238E27FC236}">
                    <a16:creationId xmlns:a16="http://schemas.microsoft.com/office/drawing/2014/main" id="{DE6E8172-AEDD-4DB6-AA68-EA2385D38242}"/>
                  </a:ext>
                </a:extLst>
              </p:cNvPr>
              <p:cNvSpPr/>
              <p:nvPr/>
            </p:nvSpPr>
            <p:spPr bwMode="auto">
              <a:xfrm>
                <a:off x="2495599" y="5084490"/>
                <a:ext cx="144016" cy="144016"/>
              </a:xfrm>
              <a:prstGeom prst="rect">
                <a:avLst/>
              </a:prstGeom>
              <a:solidFill>
                <a:schemeClr val="bg1"/>
              </a:solidFill>
              <a:ln w="15240">
                <a:solidFill>
                  <a:schemeClr val="tx1">
                    <a:lumMod val="65000"/>
                    <a:lumOff val="35000"/>
                  </a:schemeClr>
                </a:solidFill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l" defTabSz="914400" rtl="0" eaLnBrk="1" fontAlgn="ctr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buSzTx/>
                  <a:buFont typeface="Wingdings" pitchFamily="2" charset="2"/>
                  <a:buChar char="n"/>
                  <a:tabLst/>
                </a:pP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12" name="矩形 7">
                <a:extLst>
                  <a:ext uri="{FF2B5EF4-FFF2-40B4-BE49-F238E27FC236}">
                    <a16:creationId xmlns:a16="http://schemas.microsoft.com/office/drawing/2014/main" id="{7F7D4E9C-FF85-4934-9648-589D7F1A9F4A}"/>
                  </a:ext>
                </a:extLst>
              </p:cNvPr>
              <p:cNvSpPr/>
              <p:nvPr/>
            </p:nvSpPr>
            <p:spPr bwMode="auto">
              <a:xfrm>
                <a:off x="3359695" y="5084490"/>
                <a:ext cx="144016" cy="144016"/>
              </a:xfrm>
              <a:prstGeom prst="rect">
                <a:avLst/>
              </a:prstGeom>
              <a:solidFill>
                <a:schemeClr val="bg1"/>
              </a:solidFill>
              <a:ln w="15240">
                <a:solidFill>
                  <a:schemeClr val="tx1">
                    <a:lumMod val="65000"/>
                    <a:lumOff val="35000"/>
                  </a:schemeClr>
                </a:solidFill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l" defTabSz="914400" rtl="0" eaLnBrk="1" fontAlgn="ctr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buSzTx/>
                  <a:buFont typeface="Wingdings" pitchFamily="2" charset="2"/>
                  <a:buChar char="n"/>
                  <a:tabLst/>
                </a:pP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13" name="矩形 8">
                <a:extLst>
                  <a:ext uri="{FF2B5EF4-FFF2-40B4-BE49-F238E27FC236}">
                    <a16:creationId xmlns:a16="http://schemas.microsoft.com/office/drawing/2014/main" id="{5AC85D05-52EC-4C92-9571-528811FE8933}"/>
                  </a:ext>
                </a:extLst>
              </p:cNvPr>
              <p:cNvSpPr/>
              <p:nvPr/>
            </p:nvSpPr>
            <p:spPr bwMode="auto">
              <a:xfrm>
                <a:off x="2495599" y="4292402"/>
                <a:ext cx="144016" cy="144016"/>
              </a:xfrm>
              <a:prstGeom prst="rect">
                <a:avLst/>
              </a:prstGeom>
              <a:solidFill>
                <a:schemeClr val="bg1"/>
              </a:solidFill>
              <a:ln w="15240">
                <a:solidFill>
                  <a:schemeClr val="tx1">
                    <a:lumMod val="65000"/>
                    <a:lumOff val="35000"/>
                  </a:schemeClr>
                </a:solidFill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l" defTabSz="914400" rtl="0" eaLnBrk="1" fontAlgn="ctr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buSzTx/>
                  <a:buFont typeface="Wingdings" pitchFamily="2" charset="2"/>
                  <a:buChar char="n"/>
                  <a:tabLst/>
                </a:pP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14" name="矩形 9">
                <a:extLst>
                  <a:ext uri="{FF2B5EF4-FFF2-40B4-BE49-F238E27FC236}">
                    <a16:creationId xmlns:a16="http://schemas.microsoft.com/office/drawing/2014/main" id="{714B30E5-FA16-4730-A308-DA0267753E80}"/>
                  </a:ext>
                </a:extLst>
              </p:cNvPr>
              <p:cNvSpPr/>
              <p:nvPr/>
            </p:nvSpPr>
            <p:spPr bwMode="auto">
              <a:xfrm>
                <a:off x="3359695" y="4292402"/>
                <a:ext cx="144016" cy="14401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15240">
                <a:solidFill>
                  <a:schemeClr val="tx1">
                    <a:lumMod val="65000"/>
                    <a:lumOff val="35000"/>
                  </a:schemeClr>
                </a:solidFill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l" defTabSz="914400" rtl="0" eaLnBrk="1" fontAlgn="ctr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buSzTx/>
                  <a:buFont typeface="Wingdings" pitchFamily="2" charset="2"/>
                  <a:buChar char="n"/>
                  <a:tabLst/>
                </a:pP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cxnSp>
            <p:nvCxnSpPr>
              <p:cNvPr id="15" name="直接箭头连接符 10">
                <a:extLst>
                  <a:ext uri="{FF2B5EF4-FFF2-40B4-BE49-F238E27FC236}">
                    <a16:creationId xmlns:a16="http://schemas.microsoft.com/office/drawing/2014/main" id="{3D2F6A7A-010C-48D7-8845-E5F5F7D045CB}"/>
                  </a:ext>
                </a:extLst>
              </p:cNvPr>
              <p:cNvCxnSpPr/>
              <p:nvPr/>
            </p:nvCxnSpPr>
            <p:spPr bwMode="auto">
              <a:xfrm>
                <a:off x="4728007" y="5156498"/>
                <a:ext cx="1440000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tailEnd type="arrow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直接箭头连接符 11">
                <a:extLst>
                  <a:ext uri="{FF2B5EF4-FFF2-40B4-BE49-F238E27FC236}">
                    <a16:creationId xmlns:a16="http://schemas.microsoft.com/office/drawing/2014/main" id="{5047A0A0-DF58-4585-B0B2-F3BA7C3EA93F}"/>
                  </a:ext>
                </a:extLst>
              </p:cNvPr>
              <p:cNvCxnSpPr/>
              <p:nvPr/>
            </p:nvCxnSpPr>
            <p:spPr bwMode="auto">
              <a:xfrm flipH="1" flipV="1">
                <a:off x="4728008" y="3716338"/>
                <a:ext cx="0" cy="144000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tailEnd type="arrow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文本框 5">
                <a:extLst>
                  <a:ext uri="{FF2B5EF4-FFF2-40B4-BE49-F238E27FC236}">
                    <a16:creationId xmlns:a16="http://schemas.microsoft.com/office/drawing/2014/main" id="{5E0B03DB-47F0-49E0-ABCE-9FE5EFB3E70D}"/>
                  </a:ext>
                </a:extLst>
              </p:cNvPr>
              <p:cNvSpPr txBox="1"/>
              <p:nvPr/>
            </p:nvSpPr>
            <p:spPr>
              <a:xfrm>
                <a:off x="5081900" y="5300514"/>
                <a:ext cx="348536" cy="200303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pPr fontAlgn="ctr"/>
                <a:r>
                  <a:rPr lang="en-US" sz="13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cs typeface="+mn-ea"/>
                    <a:sym typeface="Huawei Sans" panose="020C0503030203020204" pitchFamily="34" charset="0"/>
                  </a:rPr>
                  <a:t>OR</a:t>
                </a:r>
              </a:p>
            </p:txBody>
          </p:sp>
          <p:sp>
            <p:nvSpPr>
              <p:cNvPr id="18" name="矩形 13">
                <a:extLst>
                  <a:ext uri="{FF2B5EF4-FFF2-40B4-BE49-F238E27FC236}">
                    <a16:creationId xmlns:a16="http://schemas.microsoft.com/office/drawing/2014/main" id="{0A04C856-244D-4399-A6B1-A2ABFD02C143}"/>
                  </a:ext>
                </a:extLst>
              </p:cNvPr>
              <p:cNvSpPr/>
              <p:nvPr/>
            </p:nvSpPr>
            <p:spPr bwMode="auto">
              <a:xfrm>
                <a:off x="4655999" y="5084490"/>
                <a:ext cx="144016" cy="144016"/>
              </a:xfrm>
              <a:prstGeom prst="rect">
                <a:avLst/>
              </a:prstGeom>
              <a:solidFill>
                <a:schemeClr val="bg1"/>
              </a:solidFill>
              <a:ln w="15240">
                <a:solidFill>
                  <a:schemeClr val="tx1">
                    <a:lumMod val="65000"/>
                    <a:lumOff val="35000"/>
                  </a:schemeClr>
                </a:solidFill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l" defTabSz="914400" rtl="0" eaLnBrk="1" fontAlgn="ctr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buSzTx/>
                  <a:buFont typeface="Wingdings" pitchFamily="2" charset="2"/>
                  <a:buChar char="n"/>
                  <a:tabLst/>
                </a:pP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19" name="矩形 14">
                <a:extLst>
                  <a:ext uri="{FF2B5EF4-FFF2-40B4-BE49-F238E27FC236}">
                    <a16:creationId xmlns:a16="http://schemas.microsoft.com/office/drawing/2014/main" id="{7D971A05-63FD-4F75-B08B-04FD95F508B8}"/>
                  </a:ext>
                </a:extLst>
              </p:cNvPr>
              <p:cNvSpPr/>
              <p:nvPr/>
            </p:nvSpPr>
            <p:spPr bwMode="auto">
              <a:xfrm>
                <a:off x="5520095" y="5084490"/>
                <a:ext cx="144016" cy="14401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15240">
                <a:solidFill>
                  <a:schemeClr val="tx1">
                    <a:lumMod val="65000"/>
                    <a:lumOff val="35000"/>
                  </a:schemeClr>
                </a:solidFill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l" defTabSz="914400" rtl="0" eaLnBrk="1" fontAlgn="ctr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buSzTx/>
                  <a:buFont typeface="Wingdings" pitchFamily="2" charset="2"/>
                  <a:buChar char="n"/>
                  <a:tabLst/>
                </a:pP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20" name="矩形 15">
                <a:extLst>
                  <a:ext uri="{FF2B5EF4-FFF2-40B4-BE49-F238E27FC236}">
                    <a16:creationId xmlns:a16="http://schemas.microsoft.com/office/drawing/2014/main" id="{08DCE4AB-5226-4BFF-9CEA-CAC5B786C988}"/>
                  </a:ext>
                </a:extLst>
              </p:cNvPr>
              <p:cNvSpPr/>
              <p:nvPr/>
            </p:nvSpPr>
            <p:spPr bwMode="auto">
              <a:xfrm>
                <a:off x="4655999" y="4292402"/>
                <a:ext cx="144016" cy="14401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15240">
                <a:solidFill>
                  <a:schemeClr val="tx1">
                    <a:lumMod val="65000"/>
                    <a:lumOff val="35000"/>
                  </a:schemeClr>
                </a:solidFill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l" defTabSz="914400" rtl="0" eaLnBrk="1" fontAlgn="ctr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buSzTx/>
                  <a:buFont typeface="Wingdings" pitchFamily="2" charset="2"/>
                  <a:buChar char="n"/>
                  <a:tabLst/>
                </a:pP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21" name="矩形 16">
                <a:extLst>
                  <a:ext uri="{FF2B5EF4-FFF2-40B4-BE49-F238E27FC236}">
                    <a16:creationId xmlns:a16="http://schemas.microsoft.com/office/drawing/2014/main" id="{6433FA0D-40E8-4D41-97B7-44973B5B1599}"/>
                  </a:ext>
                </a:extLst>
              </p:cNvPr>
              <p:cNvSpPr/>
              <p:nvPr/>
            </p:nvSpPr>
            <p:spPr bwMode="auto">
              <a:xfrm>
                <a:off x="5520095" y="4292402"/>
                <a:ext cx="144016" cy="14401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15240">
                <a:solidFill>
                  <a:schemeClr val="tx1">
                    <a:lumMod val="65000"/>
                    <a:lumOff val="35000"/>
                  </a:schemeClr>
                </a:solidFill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l" defTabSz="914400" rtl="0" eaLnBrk="1" fontAlgn="ctr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buSzTx/>
                  <a:buFont typeface="Wingdings" pitchFamily="2" charset="2"/>
                  <a:buChar char="n"/>
                  <a:tabLst/>
                </a:pP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cxnSp>
            <p:nvCxnSpPr>
              <p:cNvPr id="22" name="直接箭头连接符 17">
                <a:extLst>
                  <a:ext uri="{FF2B5EF4-FFF2-40B4-BE49-F238E27FC236}">
                    <a16:creationId xmlns:a16="http://schemas.microsoft.com/office/drawing/2014/main" id="{497E14EC-04BE-43FE-8E88-CC4D61C66C14}"/>
                  </a:ext>
                </a:extLst>
              </p:cNvPr>
              <p:cNvCxnSpPr/>
              <p:nvPr/>
            </p:nvCxnSpPr>
            <p:spPr bwMode="auto">
              <a:xfrm>
                <a:off x="7032263" y="5156498"/>
                <a:ext cx="1440000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tailEnd type="arrow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直接箭头连接符 18">
                <a:extLst>
                  <a:ext uri="{FF2B5EF4-FFF2-40B4-BE49-F238E27FC236}">
                    <a16:creationId xmlns:a16="http://schemas.microsoft.com/office/drawing/2014/main" id="{BF6364DD-3B9A-4F4A-8C22-33B899924306}"/>
                  </a:ext>
                </a:extLst>
              </p:cNvPr>
              <p:cNvCxnSpPr/>
              <p:nvPr/>
            </p:nvCxnSpPr>
            <p:spPr bwMode="auto">
              <a:xfrm flipH="1" flipV="1">
                <a:off x="7032264" y="3716338"/>
                <a:ext cx="0" cy="1440000"/>
              </a:xfrm>
              <a:prstGeom prst="straightConnector1">
                <a:avLst/>
              </a:prstGeom>
              <a:ln w="25400">
                <a:solidFill>
                  <a:schemeClr val="tx1">
                    <a:lumMod val="65000"/>
                    <a:lumOff val="35000"/>
                  </a:schemeClr>
                </a:solidFill>
                <a:tailEnd type="arrow"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4" name="文本框 5">
                <a:extLst>
                  <a:ext uri="{FF2B5EF4-FFF2-40B4-BE49-F238E27FC236}">
                    <a16:creationId xmlns:a16="http://schemas.microsoft.com/office/drawing/2014/main" id="{8BD89942-1439-4A67-93B3-5EEFA9D86E52}"/>
                  </a:ext>
                </a:extLst>
              </p:cNvPr>
              <p:cNvSpPr txBox="1"/>
              <p:nvPr/>
            </p:nvSpPr>
            <p:spPr>
              <a:xfrm>
                <a:off x="7386156" y="5300514"/>
                <a:ext cx="434628" cy="200303"/>
              </a:xfrm>
              <a:prstGeom prst="rect">
                <a:avLst/>
              </a:prstGeom>
              <a:noFill/>
            </p:spPr>
            <p:txBody>
              <a:bodyPr wrap="none" rtlCol="0">
                <a:noAutofit/>
              </a:bodyPr>
              <a:lstStyle/>
              <a:p>
                <a:pPr fontAlgn="ctr"/>
                <a:r>
                  <a:rPr lang="en-US" sz="1300" b="1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cs typeface="+mn-ea"/>
                    <a:sym typeface="Huawei Sans" panose="020C0503030203020204" pitchFamily="34" charset="0"/>
                  </a:rPr>
                  <a:t>XOR</a:t>
                </a:r>
                <a:endParaRPr lang="en-US" sz="13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25" name="矩形 20">
                <a:extLst>
                  <a:ext uri="{FF2B5EF4-FFF2-40B4-BE49-F238E27FC236}">
                    <a16:creationId xmlns:a16="http://schemas.microsoft.com/office/drawing/2014/main" id="{F640358B-C465-4EA7-9B73-01F188C27F26}"/>
                  </a:ext>
                </a:extLst>
              </p:cNvPr>
              <p:cNvSpPr/>
              <p:nvPr/>
            </p:nvSpPr>
            <p:spPr bwMode="auto">
              <a:xfrm>
                <a:off x="6960255" y="5084490"/>
                <a:ext cx="144016" cy="144016"/>
              </a:xfrm>
              <a:prstGeom prst="rect">
                <a:avLst/>
              </a:prstGeom>
              <a:solidFill>
                <a:schemeClr val="bg1"/>
              </a:solidFill>
              <a:ln w="15240">
                <a:solidFill>
                  <a:schemeClr val="tx1">
                    <a:lumMod val="65000"/>
                    <a:lumOff val="35000"/>
                  </a:schemeClr>
                </a:solidFill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l" defTabSz="914400" rtl="0" eaLnBrk="1" fontAlgn="ctr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buSzTx/>
                  <a:buFont typeface="Wingdings" pitchFamily="2" charset="2"/>
                  <a:buChar char="n"/>
                  <a:tabLst/>
                </a:pP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26" name="矩形 21">
                <a:extLst>
                  <a:ext uri="{FF2B5EF4-FFF2-40B4-BE49-F238E27FC236}">
                    <a16:creationId xmlns:a16="http://schemas.microsoft.com/office/drawing/2014/main" id="{FD36C541-C89F-4438-8C66-C0725A59E45F}"/>
                  </a:ext>
                </a:extLst>
              </p:cNvPr>
              <p:cNvSpPr/>
              <p:nvPr/>
            </p:nvSpPr>
            <p:spPr bwMode="auto">
              <a:xfrm>
                <a:off x="7824351" y="5084490"/>
                <a:ext cx="144016" cy="14401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15240">
                <a:solidFill>
                  <a:schemeClr val="tx1">
                    <a:lumMod val="65000"/>
                    <a:lumOff val="35000"/>
                  </a:schemeClr>
                </a:solidFill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l" defTabSz="914400" rtl="0" eaLnBrk="1" fontAlgn="ctr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buSzTx/>
                  <a:buFont typeface="Wingdings" pitchFamily="2" charset="2"/>
                  <a:buChar char="n"/>
                  <a:tabLst/>
                </a:pP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27" name="矩形 22">
                <a:extLst>
                  <a:ext uri="{FF2B5EF4-FFF2-40B4-BE49-F238E27FC236}">
                    <a16:creationId xmlns:a16="http://schemas.microsoft.com/office/drawing/2014/main" id="{52E70405-3777-47A6-94DD-077969DB71E0}"/>
                  </a:ext>
                </a:extLst>
              </p:cNvPr>
              <p:cNvSpPr/>
              <p:nvPr/>
            </p:nvSpPr>
            <p:spPr bwMode="auto">
              <a:xfrm>
                <a:off x="6960255" y="4292402"/>
                <a:ext cx="144016" cy="14401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15240">
                <a:solidFill>
                  <a:schemeClr val="tx1">
                    <a:lumMod val="65000"/>
                    <a:lumOff val="35000"/>
                  </a:schemeClr>
                </a:solidFill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l" defTabSz="914400" rtl="0" eaLnBrk="1" fontAlgn="ctr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buSzTx/>
                  <a:buFont typeface="Wingdings" pitchFamily="2" charset="2"/>
                  <a:buChar char="n"/>
                  <a:tabLst/>
                </a:pP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28" name="矩形 23">
                <a:extLst>
                  <a:ext uri="{FF2B5EF4-FFF2-40B4-BE49-F238E27FC236}">
                    <a16:creationId xmlns:a16="http://schemas.microsoft.com/office/drawing/2014/main" id="{88D19D5B-0AD0-4577-8CA8-C6A8F5059F2B}"/>
                  </a:ext>
                </a:extLst>
              </p:cNvPr>
              <p:cNvSpPr/>
              <p:nvPr/>
            </p:nvSpPr>
            <p:spPr bwMode="auto">
              <a:xfrm>
                <a:off x="7824351" y="4292402"/>
                <a:ext cx="144016" cy="144016"/>
              </a:xfrm>
              <a:prstGeom prst="rect">
                <a:avLst/>
              </a:prstGeom>
              <a:solidFill>
                <a:schemeClr val="bg1"/>
              </a:solidFill>
              <a:ln w="15240">
                <a:solidFill>
                  <a:schemeClr val="tx1">
                    <a:lumMod val="65000"/>
                    <a:lumOff val="35000"/>
                  </a:schemeClr>
                </a:solidFill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l" defTabSz="914400" rtl="0" eaLnBrk="1" fontAlgn="ctr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buSzTx/>
                  <a:buFont typeface="Wingdings" pitchFamily="2" charset="2"/>
                  <a:buChar char="n"/>
                  <a:tabLst/>
                </a:pP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</p:grpSp>
        <p:cxnSp>
          <p:nvCxnSpPr>
            <p:cNvPr id="6" name="直接连接符 30">
              <a:extLst>
                <a:ext uri="{FF2B5EF4-FFF2-40B4-BE49-F238E27FC236}">
                  <a16:creationId xmlns:a16="http://schemas.microsoft.com/office/drawing/2014/main" id="{D5644A70-5883-4BF3-B7DD-7F44CABDC128}"/>
                </a:ext>
              </a:extLst>
            </p:cNvPr>
            <p:cNvCxnSpPr/>
            <p:nvPr/>
          </p:nvCxnSpPr>
          <p:spPr bwMode="auto">
            <a:xfrm>
              <a:off x="2116454" y="3429000"/>
              <a:ext cx="1908212" cy="207825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" name="直接连接符 32">
              <a:extLst>
                <a:ext uri="{FF2B5EF4-FFF2-40B4-BE49-F238E27FC236}">
                  <a16:creationId xmlns:a16="http://schemas.microsoft.com/office/drawing/2014/main" id="{7647E14E-E67D-4387-9CB7-D5AC537E2954}"/>
                </a:ext>
              </a:extLst>
            </p:cNvPr>
            <p:cNvCxnSpPr/>
            <p:nvPr/>
          </p:nvCxnSpPr>
          <p:spPr bwMode="auto">
            <a:xfrm>
              <a:off x="4663560" y="4038940"/>
              <a:ext cx="1332554" cy="146685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3C749A80-9ED1-480E-86C7-D659B1D26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3287" y="2878161"/>
            <a:ext cx="1455546" cy="1425063"/>
          </a:xfrm>
          <a:prstGeom prst="rect">
            <a:avLst/>
          </a:prstGeom>
        </p:spPr>
      </p:pic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66B3DA29-A34F-4A6C-ABC4-256E4B485C52}"/>
              </a:ext>
            </a:extLst>
          </p:cNvPr>
          <p:cNvCxnSpPr>
            <a:cxnSpLocks/>
          </p:cNvCxnSpPr>
          <p:nvPr/>
        </p:nvCxnSpPr>
        <p:spPr>
          <a:xfrm flipV="1">
            <a:off x="9502079" y="3590693"/>
            <a:ext cx="905734" cy="877437"/>
          </a:xfrm>
          <a:prstGeom prst="curvedConnector3">
            <a:avLst/>
          </a:pr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6474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6E477-F7C8-46CF-928B-7D84687C4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Unfulfilled Promises (late 1960s – early 1970s)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87266-4259-4D19-9321-FC2C3C7FF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660116"/>
          </a:xfrm>
        </p:spPr>
        <p:txBody>
          <a:bodyPr/>
          <a:lstStyle/>
          <a:p>
            <a:r>
              <a:rPr lang="en-MY" dirty="0"/>
              <a:t>WHY?</a:t>
            </a:r>
          </a:p>
          <a:p>
            <a:pPr lvl="1"/>
            <a:r>
              <a:rPr lang="en-MY" dirty="0"/>
              <a:t>AI was still a relatively new field, academic in nature, with few practical applications apart from playing games. </a:t>
            </a:r>
          </a:p>
          <a:p>
            <a:pPr lvl="1"/>
            <a:r>
              <a:rPr lang="en-MY" b="1" dirty="0"/>
              <a:t>NONE</a:t>
            </a:r>
            <a:r>
              <a:rPr lang="en-MY" dirty="0"/>
              <a:t> of the AI system at that time could manage real-world problems.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5693531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B0E72-070E-4D45-A9B0-EBE2DBFAC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The key to success  (early 1970s – mid-1980s)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7BE32-6FBD-44C4-AB10-6D2360307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570" y="2052918"/>
            <a:ext cx="11028396" cy="4805082"/>
          </a:xfrm>
        </p:spPr>
        <p:txBody>
          <a:bodyPr>
            <a:normAutofit/>
          </a:bodyPr>
          <a:lstStyle/>
          <a:p>
            <a:r>
              <a:rPr lang="en-MY" dirty="0"/>
              <a:t>When weak methods failed, researchers finally realised that the only way</a:t>
            </a:r>
          </a:p>
          <a:p>
            <a:endParaRPr lang="en-MY" dirty="0"/>
          </a:p>
          <a:p>
            <a:endParaRPr lang="en-MY" dirty="0"/>
          </a:p>
          <a:p>
            <a:endParaRPr lang="en-MY" dirty="0"/>
          </a:p>
          <a:p>
            <a:endParaRPr lang="en-MY" dirty="0"/>
          </a:p>
          <a:p>
            <a:endParaRPr lang="en-MY" dirty="0"/>
          </a:p>
          <a:p>
            <a:endParaRPr lang="en-MY" dirty="0"/>
          </a:p>
          <a:p>
            <a:endParaRPr lang="en-MY" dirty="0"/>
          </a:p>
          <a:p>
            <a:endParaRPr lang="en-MY" dirty="0"/>
          </a:p>
          <a:p>
            <a:r>
              <a:rPr lang="en-MY" dirty="0"/>
              <a:t>to deliver practical results was to solve typical cases in </a:t>
            </a:r>
            <a:r>
              <a:rPr lang="en-MY" b="1" dirty="0"/>
              <a:t>narrow areas of </a:t>
            </a:r>
            <a:r>
              <a:rPr lang="en-MY" b="1" dirty="0" err="1"/>
              <a:t>expertise</a:t>
            </a:r>
            <a:r>
              <a:rPr lang="en-MY" dirty="0" err="1"/>
              <a:t>+</a:t>
            </a:r>
            <a:r>
              <a:rPr lang="en-MY" b="1" dirty="0" err="1"/>
              <a:t>making</a:t>
            </a:r>
            <a:r>
              <a:rPr lang="en-MY" b="1" dirty="0"/>
              <a:t> large reasoning steps </a:t>
            </a:r>
            <a:r>
              <a:rPr lang="en-MY" dirty="0"/>
              <a:t>–  the birth of </a:t>
            </a:r>
            <a:r>
              <a:rPr lang="en-MY" b="1" dirty="0"/>
              <a:t>Expert Systems.</a:t>
            </a:r>
            <a:r>
              <a:rPr lang="en-MY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304936-78B5-4203-AD3C-DCA594EE9D1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321037" y="2699339"/>
            <a:ext cx="4261792" cy="2976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0253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C4956-96A7-4111-831C-934834127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Expert System – </a:t>
            </a:r>
            <a:br>
              <a:rPr lang="en-MY" b="1" dirty="0"/>
            </a:br>
            <a:r>
              <a:rPr lang="en-MY" b="1" dirty="0"/>
              <a:t>MYCIN (Stanford University)</a:t>
            </a:r>
            <a:br>
              <a:rPr lang="en-MY" b="1" dirty="0"/>
            </a:b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C9CB3-A57C-4A6C-8A9C-9D322F265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MYCIN (1970s) was a rule-based expert system for the diagnosis of infectious blood diseases. </a:t>
            </a:r>
          </a:p>
          <a:p>
            <a:r>
              <a:rPr lang="en-MY" dirty="0"/>
              <a:t>MYCIN’s knowledge consisted of ~ 600 rules derived from human knowledge in a narrow domain through extensive interviewing of experts</a:t>
            </a:r>
          </a:p>
        </p:txBody>
      </p:sp>
    </p:spTree>
    <p:extLst>
      <p:ext uri="{BB962C8B-B14F-4D97-AF65-F5344CB8AC3E}">
        <p14:creationId xmlns:p14="http://schemas.microsoft.com/office/powerpoint/2010/main" val="2499674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5A916-E14C-488E-A542-2705F6A07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However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4576B-4387-4D15-BCEC-042C322FE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Expert systems are restricted to a very narrow domain of expertise</a:t>
            </a:r>
          </a:p>
          <a:p>
            <a:r>
              <a:rPr lang="en-MY" dirty="0"/>
              <a:t>Expert systems, especially the 1</a:t>
            </a:r>
            <a:r>
              <a:rPr lang="en-MY" baseline="30000" dirty="0"/>
              <a:t>st</a:t>
            </a:r>
            <a:r>
              <a:rPr lang="en-MY" dirty="0"/>
              <a:t> generation, have little or no ability to learn from their experience</a:t>
            </a:r>
          </a:p>
          <a:p>
            <a:r>
              <a:rPr lang="en-MY" dirty="0"/>
              <a:t>Expert systems are built individually and cannot be developed fast. Complex systems can take over 30 person-years to build</a:t>
            </a:r>
          </a:p>
        </p:txBody>
      </p:sp>
    </p:spTree>
    <p:extLst>
      <p:ext uri="{BB962C8B-B14F-4D97-AF65-F5344CB8AC3E}">
        <p14:creationId xmlns:p14="http://schemas.microsoft.com/office/powerpoint/2010/main" val="23411840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CD451-215F-4AFD-AE14-F3631C82A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Data-driven AI = Computational AI</a:t>
            </a:r>
            <a:br>
              <a:rPr lang="en-MY" b="1" dirty="0"/>
            </a:b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FC595-EB90-4CBF-9363-A650F4E80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Decline of Symbolic AI, rising of Computational AI (CI) </a:t>
            </a:r>
          </a:p>
          <a:p>
            <a:r>
              <a:rPr lang="en-MY" dirty="0"/>
              <a:t>Symbolic AI – symbols, tools – formal logic</a:t>
            </a:r>
          </a:p>
          <a:p>
            <a:r>
              <a:rPr lang="en-MY" dirty="0"/>
              <a:t>Example: GPS, automated theorem proving, Knowledge Representation</a:t>
            </a:r>
          </a:p>
          <a:p>
            <a:r>
              <a:rPr lang="en-MY" dirty="0"/>
              <a:t>Computational AI – data, tools – Statistics, biological inspired techniques, Math optimization etc</a:t>
            </a:r>
          </a:p>
        </p:txBody>
      </p:sp>
    </p:spTree>
    <p:extLst>
      <p:ext uri="{BB962C8B-B14F-4D97-AF65-F5344CB8AC3E}">
        <p14:creationId xmlns:p14="http://schemas.microsoft.com/office/powerpoint/2010/main" val="33223290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9608E-2032-48EB-AD7E-F35B86F40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Overview of AI, ML and DL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0908A-732E-4D33-944B-3363AB684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907452-B097-4673-AA8B-86F621AD2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557" y="1355898"/>
            <a:ext cx="7901608" cy="45623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C60C0C-4FF0-4571-8353-100C4CFDBC87}"/>
              </a:ext>
            </a:extLst>
          </p:cNvPr>
          <p:cNvSpPr txBox="1"/>
          <p:nvPr/>
        </p:nvSpPr>
        <p:spPr>
          <a:xfrm>
            <a:off x="410885" y="6441578"/>
            <a:ext cx="5685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200" dirty="0"/>
              <a:t>Content from Huawei HCIA-AI course material</a:t>
            </a:r>
          </a:p>
        </p:txBody>
      </p:sp>
    </p:spTree>
    <p:extLst>
      <p:ext uri="{BB962C8B-B14F-4D97-AF65-F5344CB8AC3E}">
        <p14:creationId xmlns:p14="http://schemas.microsoft.com/office/powerpoint/2010/main" val="11695296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62BA0BF-2B3E-43C8-92A4-D73A808355FB}"/>
              </a:ext>
            </a:extLst>
          </p:cNvPr>
          <p:cNvSpPr/>
          <p:nvPr/>
        </p:nvSpPr>
        <p:spPr>
          <a:xfrm>
            <a:off x="447261" y="6559826"/>
            <a:ext cx="8741602" cy="2981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5BFD39-5D7A-46FB-BEA3-DD34EB3D8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uawei Sans" panose="020C0503030203020204" pitchFamily="34" charset="0"/>
              </a:rPr>
              <a:t>Relationship Between AI, Machine Learning, and Deep Learning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32719-2D8A-4E06-BF3A-58F96B1E6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44E0FCA-83DC-41EE-9F1D-F5D0D3AF68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937" y="1668102"/>
            <a:ext cx="8928926" cy="51898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323E17-6075-459A-842F-095DA58FE776}"/>
              </a:ext>
            </a:extLst>
          </p:cNvPr>
          <p:cNvSpPr txBox="1"/>
          <p:nvPr/>
        </p:nvSpPr>
        <p:spPr>
          <a:xfrm>
            <a:off x="9188863" y="6405282"/>
            <a:ext cx="2743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800" dirty="0"/>
              <a:t>Content from Huawei HCIA-AI course material</a:t>
            </a:r>
          </a:p>
        </p:txBody>
      </p:sp>
    </p:spTree>
    <p:extLst>
      <p:ext uri="{BB962C8B-B14F-4D97-AF65-F5344CB8AC3E}">
        <p14:creationId xmlns:p14="http://schemas.microsoft.com/office/powerpoint/2010/main" val="18608331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3B472-C3D7-4FFE-B88F-AC8E04120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Strong vs Weak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CBB41-3B95-4A8A-B395-ECD88A14F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Weak AI (artificial narrow intelligence)</a:t>
            </a:r>
          </a:p>
          <a:p>
            <a:pPr lvl="1"/>
            <a:r>
              <a:rPr lang="en-MY" dirty="0"/>
              <a:t>Specialize in one area</a:t>
            </a:r>
          </a:p>
          <a:p>
            <a:pPr lvl="1"/>
            <a:r>
              <a:rPr lang="en-MY" dirty="0"/>
              <a:t>Expert Systems, Intelligence Personal Assistant (Siri/Cortana/Google Home/Alexa etc), AlphaGo and many others</a:t>
            </a:r>
          </a:p>
          <a:p>
            <a:r>
              <a:rPr lang="en-MY" dirty="0"/>
              <a:t>Strong AI (artificial general intelligence)</a:t>
            </a:r>
          </a:p>
          <a:p>
            <a:pPr lvl="1"/>
            <a:r>
              <a:rPr lang="en-MY" dirty="0"/>
              <a:t>A computer that is as smart as a human </a:t>
            </a:r>
            <a:r>
              <a:rPr lang="en-MY" i="1" dirty="0"/>
              <a:t>across the board—</a:t>
            </a:r>
            <a:r>
              <a:rPr lang="en-MY" dirty="0"/>
              <a:t>a machine that can perform any intellectual task that a human being can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7000216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232</TotalTime>
  <Words>1071</Words>
  <Application>Microsoft Office PowerPoint</Application>
  <PresentationFormat>Widescreen</PresentationFormat>
  <Paragraphs>114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Calibri</vt:lpstr>
      <vt:lpstr>Century Gothic</vt:lpstr>
      <vt:lpstr>Huawei Sans</vt:lpstr>
      <vt:lpstr>Wingdings</vt:lpstr>
      <vt:lpstr>Wingdings 3</vt:lpstr>
      <vt:lpstr>Ion</vt:lpstr>
      <vt:lpstr>Introduction to Machine Learning </vt:lpstr>
      <vt:lpstr>What is intelligence?</vt:lpstr>
      <vt:lpstr>What is intelligence?</vt:lpstr>
      <vt:lpstr>What is intelligence?</vt:lpstr>
      <vt:lpstr>Human vs Non-Human</vt:lpstr>
      <vt:lpstr>Artificial Intelligence</vt:lpstr>
      <vt:lpstr>Some Refresh about Artificial Intelligence</vt:lpstr>
      <vt:lpstr>Some Refresh about AI</vt:lpstr>
      <vt:lpstr>Turing Test</vt:lpstr>
      <vt:lpstr>Three Important Era of AI (Early Day)</vt:lpstr>
      <vt:lpstr>The era of great expectations   (1956 – late 1960s) </vt:lpstr>
      <vt:lpstr>General Problem Solver </vt:lpstr>
      <vt:lpstr>General Problem Solver</vt:lpstr>
      <vt:lpstr>General Problem Solver</vt:lpstr>
      <vt:lpstr>Unfulfilled Promises (late 1960s – early 1970s)</vt:lpstr>
      <vt:lpstr>Unfulfilled Promises (late 1960s – early 1970s)</vt:lpstr>
      <vt:lpstr>The key to success  (early 1970s – mid-1980s)</vt:lpstr>
      <vt:lpstr>Expert System –  MYCIN (Stanford University) </vt:lpstr>
      <vt:lpstr>However</vt:lpstr>
      <vt:lpstr>Data-driven AI = Computational AI </vt:lpstr>
      <vt:lpstr>Overview of AI, ML and DL</vt:lpstr>
      <vt:lpstr>Relationship Between AI, Machine Learning, and Deep Learning</vt:lpstr>
      <vt:lpstr>Strong vs Weak AI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</dc:title>
  <dc:creator>Goh Pey Yun</dc:creator>
  <cp:lastModifiedBy>HASSAN YASSIN MOHAMED HASSAN</cp:lastModifiedBy>
  <cp:revision>38</cp:revision>
  <dcterms:created xsi:type="dcterms:W3CDTF">2025-02-27T06:37:15Z</dcterms:created>
  <dcterms:modified xsi:type="dcterms:W3CDTF">2026-04-23T23:25:22Z</dcterms:modified>
</cp:coreProperties>
</file>